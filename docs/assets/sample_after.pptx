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mp4" ContentType="video/mp4"/>
  <Default Extension="mp3" ContentType="audio/mpeg"/>
  <Default Extension="fntdata" ContentType="application/x-font-f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_1_0.xml" ContentType="application/vnd.openxmlformats-officedocument.drawingml.chart+xml"/>
  <Override PartName="/ppt/theme/theme1.xml" ContentType="application/vnd.openxmlformats-officedocument.them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sldIdLst>
    <p:sldId id="256" r:id="rId10"/>
    <p:sldId id="257" r:id="rId11"/>
    <p:sldId id="258" r:id="rId12"/>
    <p:sldId id="259" r:id="rId13"/>
    <p:sldId id="260" r:id="rId14"/>
  </p:sldIdLst>
  <p:sldSz cx="12191695" cy="6858000"/>
  <p:notesSz cx="6858000" cy="9144000"/>
  <p:embeddedFontLst>
    <p:embeddedFont>
      <p:font typeface="Brand Sans"/>
      <p:regular r:id="rIdFont0"/>
    </p:embeddedFont>
    <p:embeddedFont>
      <p:font typeface="Brand Mono"/>
      <p:regular r:id="rIdFont1"/>
    </p:embeddedFont>
  </p:embeddedFontLst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Font0" Type="http://schemas.openxmlformats.org/officeDocument/2006/relationships/font" Target="fonts/font0.fntdata"/><Relationship Id="rIdFont1" Type="http://schemas.openxmlformats.org/officeDocument/2006/relationships/font" Target="fonts/font1.fntdata"/></Relationships>
</file>

<file path=ppt/charts/chart_1_0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layout/>
      <c:barChart>
        <c:barDir val="col"/>
        <c:ser>
          <c:idx val="0"/>
          <c:order val="0"/>
          <c:tx>
            <c:strRef>
              <c:f>Sheet1!$B$1</c:f>
              <c:strCache>
                <c:ptCount val="1"/>
                <c:pt idx="0">
                  <c:v>Adoption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Cat1</c:v>
                </c:pt>
                <c:pt idx="1">
                  <c:v>Cat2</c:v>
                </c:pt>
                <c:pt idx="2">
                  <c:v>Cat3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</c:v>
                </c:pt>
                <c:pt idx="1">
                  <c:v>18</c:v>
                </c:pt>
                <c:pt idx="2">
                  <c:v>31</c:v>
                </c:pt>
              </c:numCache>
            </c:numRef>
          </c:val>
        </c:ser>
        <c:axId val="1"/>
        <c:axId val="2"/>
      </c:barChart>
      <c:catAx>
        <c:axId val="1"/>
        <c:scaling>
          <c:orientation val="minMax"/>
        </c:scaling>
        <c:delete val="0"/>
        <c:axPos val="b"/>
        <c:crossAx val="2"/>
      </c:catAx>
      <c:valAx>
        <c:axId val="2"/>
        <c:scaling>
          <c:orientation val="minMax"/>
        </c:scaling>
        <c:delete val="0"/>
        <c:axPos val="l"/>
        <c:crossAx val="1"/>
      </c:valAx>
    </c:plotArea>
  </c:chart>
</c:chartSpace>
</file>

<file path=ppt/diagrams/data_1_0.xml><?xml version="1.0" encoding="utf-8"?>
<a:root xmlns:a="http://schemas.openxmlformats.org/drawingml/2006/main">
  <a:t>Plan</a:t>
  <a:t>Build</a:t>
  <a:t>Launch</a:t>
  <a:t>Iterate</a:t>
</a:root>
</file>

<file path=ppt/diagrams/data_2_0.xml><?xml version="1.0" encoding="utf-8"?>
<a:root xmlns:a="http://schemas.openxmlformats.org/drawingml/2006/main">
  <a:t>Same</a:t>
  <a:t>Same</a:t>
  <a:t>Same</a:t>
</a:root>
</file>

<file path=ppt/notesSlides/_rels/notesSlide2.xml.rels><?xml version="1.0" encoding="UTF-8" standalone="yes"?>
<Relationships xmlns="http://schemas.openxmlformats.org/package/2006/relationships"></Relationships>
</file>

<file path=ppt/notesSlides/_rels/notesSlide3.xml.rels><?xml version="1.0" encoding="UTF-8" standalone="yes"?>
<Relationships xmlns="http://schemas.openxmlformats.org/package/2006/relationships"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i="0" dirty="0">
                <a:solidFill>
                  <a:srgbClr val="C9684A"/>
                </a:solidFill>
              </a:rPr>
              <a:t>Walk through the roadmap slide slowly — leadership cares about Q4 dates. Mention the EMEA slip.</a:t>
            </a:r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/>
              <a:t>This slide should show zero differences — a control for the diff engine.</a:t>
            </a:r>
          </a:p>
        </p:txBody>
      </p:sp>
    </p:spTree>
  </p:cSld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1800">
          <a:solidFill>
            <a:schemeClr val="tx1"/>
          </a:solidFill>
          <a:latin typeface="+mj-lt"/>
        </a:defRPr>
      </a:lvl1pPr>
    </p:titleStyle>
    <p:bodyStyle>
      <a:lvl1pPr>
        <a:defRPr sz="1800">
          <a:solidFill>
            <a:schemeClr val="tx1"/>
          </a:solidFill>
          <a:latin typeface="+mn-lt"/>
        </a:defRPr>
      </a:lvl1pPr>
    </p:bodyStyle>
    <p:otherStyle>
      <a:defPPr>
        <a:defRPr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example.com/roadmap-2026-final" TargetMode="External"/><Relationship Id="rId3" Type="http://schemas.openxmlformats.org/officeDocument/2006/relationships/image" Target="../media/img_1_0.png"/><Relationship Id="rId4" Type="http://schemas.openxmlformats.org/officeDocument/2006/relationships/chart" Target="../charts/chart_1_0.xml"/><Relationship Id="rId5" Type="http://schemas.openxmlformats.org/officeDocument/2006/relationships/diagramData" Target="../diagrams/data_1_0.xml"/><Relationship Id="rId6" Type="http://schemas.openxmlformats.org/officeDocument/2006/relationships/video" Target="../media/media_1_0.mp4"/><Relationship Id="rId7" Type="http://schemas.openxmlformats.org/officeDocument/2006/relationships/image" Target="../media/poster_1_0.png"/><Relationship Id="rId8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example.com/stable" TargetMode="External"/><Relationship Id="rId3" Type="http://schemas.openxmlformats.org/officeDocument/2006/relationships/image" Target="../media/img_2_0.png"/><Relationship Id="rId4" Type="http://schemas.openxmlformats.org/officeDocument/2006/relationships/diagramData" Target="../diagrams/data_2_0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85800" y="502920"/>
            <a:ext cx="10789920" cy="109728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indent="0" marL="0">
              <a:buNone/>
            </a:pPr>
            <a:r>
              <a:rPr lang="en-US" sz="4400" b="1" i="0" dirty="0">
                <a:solidFill>
                  <a:srgbClr val="C9684A"/>
                </a:solidFill>
                <a:latin typeface="Arial"/>
              </a:rPr>
              <a:t>Q3 Business Review</a:t>
            </a:r>
          </a:p>
        </p:txBody>
      </p:sp>
      <p:sp>
        <p:nvSpPr>
          <p:cNvPr id="3" name="Subtitle"/>
          <p:cNvSpPr>
            <a:spLocks noGrp="1"/>
          </p:cNvSpPr>
          <p:nvPr/>
        </p:nvSpPr>
        <p:spPr>
          <a:xfrm>
            <a:off x="685800" y="1645920"/>
            <a:ext cx="8229600" cy="50292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indent="0" marL="0">
              <a:buNone/>
            </a:pPr>
            <a:r>
              <a:rPr lang="en-US" sz="1800" b="0" i="0" dirty="0">
                <a:solidFill>
                  <a:srgbClr val="6B655A"/>
                </a:solidFill>
                <a:latin typeface="Arial"/>
              </a:rPr>
              <a:t>Prepared by Strategy &amp; Finance</a:t>
            </a:r>
          </a:p>
        </p:txBody>
      </p:sp>
      <p:sp>
        <p:nvSpPr>
          <p:cNvPr id="4" name="Key points"/>
          <p:cNvSpPr>
            <a:spLocks noGrp="1"/>
          </p:cNvSpPr>
          <p:nvPr/>
        </p:nvSpPr>
        <p:spPr>
          <a:xfrm>
            <a:off x="914400" y="2743200"/>
            <a:ext cx="7498080" cy="27432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indent="-274638" marL="274638">
              <a:buFont typeface="Arial"/>
              <a:buChar char="•"/>
            </a:pPr>
            <a:r>
              <a:rPr lang="en-US" sz="2200" b="0" i="0" dirty="0">
                <a:solidFill>
                  <a:srgbClr val="1F1E1B"/>
                </a:solidFill>
                <a:latin typeface="Arial"/>
              </a:rPr>
              <a:t>Revenue up 15% year over year</a:t>
            </a:r>
          </a:p>
          <a:p>
            <a:pPr indent="-274638" marL="274638">
              <a:buFont typeface="Arial"/>
              <a:buChar char="•"/>
            </a:pPr>
            <a:r>
              <a:rPr lang="en-US" sz="2200" b="0" i="0" dirty="0">
                <a:solidFill>
                  <a:srgbClr val="1F1E1B"/>
                </a:solidFill>
                <a:latin typeface="Arial"/>
              </a:rPr>
              <a:t>Churn down to 4.1%</a:t>
            </a:r>
          </a:p>
          <a:p>
            <a:pPr indent="-274638" marL="274638">
              <a:buFont typeface="Arial"/>
              <a:buChar char="•"/>
            </a:pPr>
            <a:r>
              <a:rPr lang="en-US" sz="2200" b="0" i="0" dirty="0">
                <a:solidFill>
                  <a:srgbClr val="1F1E1B"/>
                </a:solidFill>
                <a:latin typeface="Arial"/>
              </a:rPr>
              <a:t>Three new markets launched</a:t>
            </a:r>
          </a:p>
        </p:txBody>
      </p:sp>
      <p:sp>
        <p:nvSpPr>
          <p:cNvPr id="5" name="Callout"/>
          <p:cNvSpPr>
            <a:spLocks noGrp="1"/>
          </p:cNvSpPr>
          <p:nvPr/>
        </p:nvSpPr>
        <p:spPr>
          <a:xfrm>
            <a:off x="8229600" y="2834640"/>
            <a:ext cx="3200400" cy="118872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algn="ctr" indent="0" marL="0">
              <a:buNone/>
            </a:pPr>
            <a:r>
              <a:rPr lang="en-US" sz="2000" b="0" i="1" dirty="0">
                <a:solidFill>
                  <a:srgbClr val="C9684A"/>
                </a:solidFill>
                <a:latin typeface="Georgia"/>
              </a:rPr>
              <a:t>On track for a record Q4</a:t>
            </a:r>
          </a:p>
        </p:txBody>
      </p:sp>
      <p:sp>
        <p:nvSpPr>
          <p:cNvPr id="6" name="Footer"/>
          <p:cNvSpPr>
            <a:spLocks noGrp="1"/>
          </p:cNvSpPr>
          <p:nvPr/>
        </p:nvSpPr>
        <p:spPr>
          <a:xfrm>
            <a:off x="6035040" y="6263640"/>
            <a:ext cx="5486400" cy="36576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algn="r" indent="0" marL="0">
              <a:buNone/>
            </a:pPr>
            <a:r>
              <a:rPr lang="en-US" sz="1200" b="0" i="0" dirty="0">
                <a:solidFill>
                  <a:srgbClr val="9A9486"/>
                </a:solidFill>
                <a:latin typeface="Arial"/>
              </a:rPr>
              <a:t>Confidential — 2026</a:t>
            </a:r>
          </a:p>
        </p:txBody>
      </p:sp>
      <p:graphicFrame>
        <p:nvGraphicFramePr>
          <p:cNvPr id="100" name="Metrics table"/>
          <p:cNvGraphicFramePr/>
          <p:nvPr/>
        </p:nvGraphicFramePr>
        <p:xfrm>
          <a:off x="822960" y="4160520"/>
          <a:ext cx="5486400" cy="1554480"/>
        </p:xfrm>
        <a:graphic>
          <a:graphicData uri="http://schemas.openxmlformats.org/drawingml/2006/table">
            <a:tbl>
              <a:tblPr firstRow="1" bandRow="1"/>
              <a:tblGrid>
                <a:gridCol w="1828800"/>
                <a:gridCol w="1828800"/>
                <a:gridCol w="1828800"/>
              </a:tblGrid>
              <a:tr h="388620">
                <a:tc>
                  <a:txBody>
                    <a:bodyPr/>
                    <a:lstStyle/>
                    <a:p>
                      <a:r>
                        <a:rPr lang="en-US" sz="1400" dirty="0"/>
                        <a:t>Metric</a:t>
                      </a:r>
                    </a:p>
                  </a:txBody>
                  <a:tcPr marL="45720" marR="45720" marT="22860" marB="22860"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Q2</a:t>
                      </a:r>
                    </a:p>
                  </a:txBody>
                  <a:tcPr marL="45720" marR="45720" marT="22860" marB="22860"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Q3</a:t>
                      </a:r>
                    </a:p>
                  </a:txBody>
                  <a:tcPr marL="45720" marR="45720" marT="22860" marB="22860"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  <a:noFill/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lang="en-US" sz="1400" dirty="0"/>
                        <a:t>Revenue</a:t>
                      </a:r>
                    </a:p>
                  </a:txBody>
                  <a:tcPr marL="45720" marR="45720" marT="22860" marB="22860"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$4.1M</a:t>
                      </a:r>
                    </a:p>
                  </a:txBody>
                  <a:tcPr marL="45720" marR="45720" marT="22860" marB="22860"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$4.6M</a:t>
                      </a:r>
                    </a:p>
                  </a:txBody>
                  <a:tcPr marL="45720" marR="45720" marT="22860" marB="22860"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  <a:noFill/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lang="en-US" sz="1400" dirty="0"/>
                        <a:t>Churn</a:t>
                      </a:r>
                    </a:p>
                  </a:txBody>
                  <a:tcPr marL="45720" marR="45720" marT="22860" marB="22860"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4.3%</a:t>
                      </a:r>
                    </a:p>
                  </a:txBody>
                  <a:tcPr marL="45720" marR="45720" marT="22860" marB="22860"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4.1%</a:t>
                      </a:r>
                    </a:p>
                  </a:txBody>
                  <a:tcPr marL="45720" marR="45720" marT="22860" marB="22860"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  <a:noFill/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lang="en-US" sz="1400" dirty="0"/>
                        <a:t>New logos</a:t>
                      </a:r>
                    </a:p>
                  </a:txBody>
                  <a:tcPr marL="45720" marR="45720" marT="22860" marB="22860"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18</a:t>
                      </a:r>
                    </a:p>
                  </a:txBody>
                  <a:tcPr marL="45720" marR="45720" marT="22860" marB="22860"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27</a:t>
                      </a:r>
                    </a:p>
                  </a:txBody>
                  <a:tcPr marL="45720" marR="45720" marT="22860" marB="22860"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F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85800" y="457200"/>
            <a:ext cx="10789920" cy="9144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indent="0" marL="0">
              <a:buNone/>
            </a:pPr>
            <a:r>
              <a:rPr lang="en-US" sz="3200" b="1" i="0" dirty="0">
                <a:solidFill>
                  <a:srgbClr val="1F1E1B"/>
                </a:solidFill>
                <a:latin typeface="Georgia"/>
              </a:rPr>
              <a:t>Feature Showcase</a:t>
            </a:r>
          </a:p>
        </p:txBody>
      </p:sp>
      <p:sp>
        <p:nvSpPr>
          <p:cNvPr id="3" name="Details link"/>
          <p:cNvSpPr>
            <a:spLocks noGrp="1"/>
          </p:cNvSpPr>
          <p:nvPr/>
        </p:nvSpPr>
        <p:spPr>
          <a:xfrm>
            <a:off x="685800" y="1463040"/>
            <a:ext cx="5486400" cy="4572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indent="0" marL="0">
              <a:buNone/>
            </a:pPr>
            <a:r>
              <a:rPr lang="en-US" sz="1600" b="0" i="0" dirty="0">
                <a:solidFill>
                  <a:srgbClr val="2A6FDB"/>
                </a:solidFill>
                <a:latin typeface="Arial"/>
                <a:hlinkClick r:id="rId2"/>
              </a:rPr>
              <a:t>Full roadmap and details</a:t>
            </a:r>
          </a:p>
        </p:txBody>
      </p:sp>
      <p:sp>
        <p:nvSpPr>
          <p:cNvPr id="4" name="Wrapped note"/>
          <p:cNvSpPr>
            <a:spLocks noGrp="1"/>
          </p:cNvSpPr>
          <p:nvPr/>
        </p:nvSpPr>
        <p:spPr>
          <a:xfrm>
            <a:off x="6492240" y="1417320"/>
            <a:ext cx="2011680" cy="822960"/>
          </a:xfrm>
          <a:prstGeom prst="rect">
            <a:avLst/>
          </a:prstGeom>
        </p:spPr>
        <p:txBody>
          <a:bodyPr wrap="none" rtlCol="0">
            <a:normAutofit/>
          </a:bodyPr>
          <a:lstStyle/>
          <a:p>
            <a:pPr indent="0" marL="0">
              <a:buNone/>
            </a:pPr>
            <a:r>
              <a:rPr lang="en-US" sz="1300" b="0" i="0" dirty="0">
                <a:solidFill>
                  <a:srgbClr val="6B655A"/>
                </a:solidFill>
                <a:latin typeface="Arial"/>
              </a:rPr>
              <a:t>This note wraps across lines inside a narrow box.</a:t>
            </a:r>
          </a:p>
        </p:txBody>
      </p:sp>
      <p:sp>
        <p:nvSpPr>
          <p:cNvPr id="5" name="Bordered callout"/>
          <p:cNvSpPr>
            <a:spLocks noGrp="1"/>
          </p:cNvSpPr>
          <p:nvPr/>
        </p:nvSpPr>
        <p:spPr>
          <a:xfrm>
            <a:off x="685800" y="4892040"/>
            <a:ext cx="4206240" cy="1051560"/>
          </a:xfrm>
          <a:prstGeom prst="rect">
            <a:avLst/>
          </a:prstGeom>
          <a:ln w="38100">
            <a:solidFill>
              <a:srgbClr val="C9684A"/>
            </a:solidFill>
          </a:ln>
        </p:spPr>
        <p:txBody>
          <a:bodyPr wrap="square" rtlCol="0">
            <a:normAutofit/>
          </a:bodyPr>
          <a:lstStyle/>
          <a:p>
            <a:pPr indent="0" marL="0">
              <a:buNone/>
            </a:pPr>
            <a:r>
              <a:rPr lang="en-US" sz="1600" b="1" i="0" dirty="0">
                <a:solidFill>
                  <a:srgbClr val="1F1E1B"/>
                </a:solidFill>
                <a:latin typeface="Arial"/>
              </a:rPr>
              <a:t>On track for GA</a:t>
            </a:r>
          </a:p>
        </p:txBody>
      </p:sp>
      <p:sp>
        <p:nvSpPr>
          <p:cNvPr id="6" name="Footer"/>
          <p:cNvSpPr>
            <a:spLocks noGrp="1"/>
          </p:cNvSpPr>
          <p:nvPr/>
        </p:nvSpPr>
        <p:spPr>
          <a:xfrm>
            <a:off x="685800" y="6309360"/>
            <a:ext cx="5486400" cy="36576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indent="0" marL="0">
              <a:buNone/>
            </a:pPr>
            <a:r>
              <a:rPr lang="en-US" sz="1200" b="0" i="0" dirty="0">
                <a:solidFill>
                  <a:srgbClr val="9A9486"/>
                </a:solidFill>
                <a:latin typeface="Arial"/>
              </a:rPr>
              <a:t>Confidential — final</a:t>
            </a:r>
          </a:p>
        </p:txBody>
      </p:sp>
      <p:graphicFrame>
        <p:nvGraphicFramePr>
          <p:cNvPr id="100" name="Formatting table"/>
          <p:cNvGraphicFramePr/>
          <p:nvPr/>
        </p:nvGraphicFramePr>
        <p:xfrm>
          <a:off x="685800" y="2423160"/>
          <a:ext cx="5669280" cy="2194560"/>
        </p:xfrm>
        <a:graphic>
          <a:graphicData uri="http://schemas.openxmlformats.org/drawingml/2006/table">
            <a:tbl>
              <a:tblPr firstRow="1" bandRow="1"/>
              <a:tblGrid>
                <a:gridCol w="1889760"/>
                <a:gridCol w="1889760"/>
                <a:gridCol w="1889760"/>
              </a:tblGrid>
              <a:tr h="731520">
                <a:tc>
                  <a:txBody>
                    <a:bodyPr/>
                    <a:lstStyle/>
                    <a:p>
                      <a:r>
                        <a:rPr lang="en-US" sz="1400" dirty="0"/>
                        <a:t>Region</a:t>
                      </a:r>
                    </a:p>
                  </a:txBody>
                  <a:tcPr marL="45720" marR="45720" marT="22860" marB="22860"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  <a:solidFill>
                      <a:srgbClr val="EAE4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Owner</a:t>
                      </a:r>
                    </a:p>
                  </a:txBody>
                  <a:tcPr marL="45720" marR="45720" marT="22860" marB="22860"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  <a:solidFill>
                      <a:srgbClr val="EAE4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Status</a:t>
                      </a:r>
                    </a:p>
                  </a:txBody>
                  <a:tcPr marL="45720" marR="45720" marT="22860" marB="22860"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  <a:solidFill>
                      <a:srgbClr val="EAE4D6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lang="en-US" sz="1400" dirty="0"/>
                        <a:t>AMER</a:t>
                      </a:r>
                    </a:p>
                  </a:txBody>
                  <a:tcPr marL="45720" marR="45720" marT="22860" marB="22860">
                    <a:lnL w="25400">
                      <a:solidFill>
                        <a:srgbClr val="3E7C5A"/>
                      </a:solidFill>
                    </a:lnL>
                    <a:lnR w="25400">
                      <a:solidFill>
                        <a:srgbClr val="3E7C5A"/>
                      </a:solidFill>
                    </a:lnR>
                    <a:lnT w="25400">
                      <a:solidFill>
                        <a:srgbClr val="3E7C5A"/>
                      </a:solidFill>
                    </a:lnT>
                    <a:lnB w="25400">
                      <a:solidFill>
                        <a:srgbClr val="3E7C5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A. Chen</a:t>
                      </a:r>
                    </a:p>
                  </a:txBody>
                  <a:tcPr marL="45720" marR="45720" marT="22860" marB="22860"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Green</a:t>
                      </a:r>
                    </a:p>
                  </a:txBody>
                  <a:tcPr marL="45720" marR="45720" marT="22860" marB="22860"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  <a:solidFill>
                      <a:srgbClr val="E4F3E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lang="en-US" sz="1400" dirty="0"/>
                        <a:t>EMEA</a:t>
                      </a:r>
                    </a:p>
                  </a:txBody>
                  <a:tcPr marL="45720" marR="45720" marT="22860" marB="22860"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  <a:solidFill>
                      <a:srgbClr val="FBEF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R. Diaz</a:t>
                      </a:r>
                    </a:p>
                  </a:txBody>
                  <a:tcPr marL="45720" marR="45720" marT="22860" marB="22860"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Blocked</a:t>
                      </a:r>
                    </a:p>
                  </a:txBody>
                  <a:tcPr marL="45720" marR="45720" marT="22860" marB="22860"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  <a:solidFill>
                      <a:srgbClr val="FBEFEC"/>
                    </a:solidFill>
                  </a:tcPr>
                </a:tc>
              </a:tr>
            </a:tbl>
          </a:graphicData>
        </a:graphic>
      </p:graphicFrame>
      <p:pic>
        <p:nvPicPr>
          <p:cNvPr id="300" name="Product shot"/>
          <p:cNvPicPr/>
          <p:nvPr/>
        </p:nvPicPr>
        <p:blipFill>
          <a:blip r:embed="rId3"/>
          <a:stretch>
            <a:fillRect/>
          </a:stretch>
        </p:blipFill>
        <p:spPr>
          <a:xfrm>
            <a:off x="8503920" y="502920"/>
            <a:ext cx="2926080" cy="1737360"/>
          </a:xfrm>
          <a:prstGeom prst="rect">
            <a:avLst/>
          </a:prstGeom>
        </p:spPr>
      </p:pic>
      <p:graphicFrame>
        <p:nvGraphicFramePr>
          <p:cNvPr id="400" name="Adoption chart"/>
          <p:cNvGraphicFramePr/>
          <p:nvPr/>
        </p:nvGraphicFramePr>
        <p:xfrm>
          <a:off x="8503920" y="2423160"/>
          <a:ext cx="2926080" cy="2194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500" name="Process diagram"/>
          <p:cNvGraphicFramePr/>
          <p:nvPr/>
        </p:nvGraphicFramePr>
        <p:xfrm>
          <a:off x="8503920" y="4754880"/>
          <a:ext cx="2926080" cy="11887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5" r:qs="rId5" r:cs="rId5"/>
          </a:graphicData>
        </a:graphic>
      </p:graphicFrame>
      <p:pic>
        <p:nvPicPr>
          <p:cNvPr id="200" name="Demo clip"/>
          <p:cNvPicPr/>
          <p:nvPr>
            <p:videoFile r:link="rId6"/>
          </p:nvPr>
        </p:nvPicPr>
        <p:blipFill>
          <a:blip r:embed="rId7"/>
          <a:stretch>
            <a:fillRect/>
          </a:stretch>
        </p:blipFill>
        <p:spPr>
          <a:xfrm>
            <a:off x="4206240" y="4892040"/>
            <a:ext cx="1828800" cy="1051560"/>
          </a:xfrm>
          <a:prstGeom prst="rect">
            <a:avLst/>
          </a:prstGeom>
        </p:spPr>
      </p:pic>
    </p:spTree>
  </p:cSld>
  <p:transition spd="fast" advTm="4000" advClick="0">
    <p:push/>
  </p:transition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85800" y="457200"/>
            <a:ext cx="10789920" cy="9144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indent="0" marL="0">
              <a:buNone/>
            </a:pPr>
            <a:r>
              <a:rPr lang="en-US" sz="3200" b="1" i="0" dirty="0">
                <a:solidFill>
                  <a:srgbClr val="1F1E1B"/>
                </a:solidFill>
                <a:latin typeface="Georgia"/>
              </a:rPr>
              <a:t>Stable Slide (control)</a:t>
            </a:r>
          </a:p>
        </p:txBody>
      </p:sp>
      <p:sp>
        <p:nvSpPr>
          <p:cNvPr id="3" name="Link"/>
          <p:cNvSpPr>
            <a:spLocks noGrp="1"/>
          </p:cNvSpPr>
          <p:nvPr/>
        </p:nvSpPr>
        <p:spPr>
          <a:xfrm>
            <a:off x="685800" y="1463040"/>
            <a:ext cx="5486400" cy="4572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indent="0" marL="0">
              <a:buNone/>
            </a:pPr>
            <a:r>
              <a:rPr lang="en-US" sz="1600" b="0" i="0" dirty="0">
                <a:solidFill>
                  <a:srgbClr val="2A6FDB"/>
                </a:solidFill>
                <a:latin typeface="Arial"/>
                <a:hlinkClick r:id="rId2"/>
              </a:rPr>
              <a:t>Unchanged reference link</a:t>
            </a:r>
          </a:p>
        </p:txBody>
      </p:sp>
      <p:sp>
        <p:nvSpPr>
          <p:cNvPr id="4" name="Bordered box"/>
          <p:cNvSpPr>
            <a:spLocks noGrp="1"/>
          </p:cNvSpPr>
          <p:nvPr/>
        </p:nvSpPr>
        <p:spPr>
          <a:xfrm>
            <a:off x="685800" y="2103120"/>
            <a:ext cx="4206240" cy="1051560"/>
          </a:xfrm>
          <a:prstGeom prst="rect">
            <a:avLst/>
          </a:prstGeom>
          <a:ln w="19050">
            <a:solidFill>
              <a:srgbClr val="8A8273"/>
            </a:solidFill>
          </a:ln>
        </p:spPr>
        <p:txBody>
          <a:bodyPr wrap="square" rtlCol="0">
            <a:normAutofit/>
          </a:bodyPr>
          <a:lstStyle/>
          <a:p>
            <a:pPr indent="0" marL="0">
              <a:buNone/>
            </a:pPr>
            <a:r>
              <a:rPr lang="en-US" sz="1600" b="1" i="0" dirty="0">
                <a:solidFill>
                  <a:srgbClr val="1F1E1B"/>
                </a:solidFill>
                <a:latin typeface="Arial"/>
              </a:rPr>
              <a:t>No changes here</a:t>
            </a:r>
          </a:p>
        </p:txBody>
      </p:sp>
      <p:graphicFrame>
        <p:nvGraphicFramePr>
          <p:cNvPr id="100" name="Control table"/>
          <p:cNvGraphicFramePr/>
          <p:nvPr/>
        </p:nvGraphicFramePr>
        <p:xfrm>
          <a:off x="685800" y="3657600"/>
          <a:ext cx="5669280" cy="1280160"/>
        </p:xfrm>
        <a:graphic>
          <a:graphicData uri="http://schemas.openxmlformats.org/drawingml/2006/table">
            <a:tbl>
              <a:tblPr firstRow="1" bandRow="1"/>
              <a:tblGrid>
                <a:gridCol w="2834640"/>
                <a:gridCol w="2834640"/>
              </a:tblGrid>
              <a:tr h="640080">
                <a:tc>
                  <a:txBody>
                    <a:bodyPr/>
                    <a:lstStyle/>
                    <a:p>
                      <a:r>
                        <a:rPr lang="en-US" sz="1400" dirty="0"/>
                        <a:t>Item</a:t>
                      </a:r>
                    </a:p>
                  </a:txBody>
                  <a:tcPr marL="45720" marR="45720" marT="22860" marB="22860"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  <a:solidFill>
                      <a:srgbClr val="EAE4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Value</a:t>
                      </a:r>
                    </a:p>
                  </a:txBody>
                  <a:tcPr marL="45720" marR="45720" marT="22860" marB="22860"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  <a:solidFill>
                      <a:srgbClr val="EAE4D6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lang="en-US" sz="1400" dirty="0"/>
                        <a:t>Uptime</a:t>
                      </a:r>
                    </a:p>
                  </a:txBody>
                  <a:tcPr marL="45720" marR="45720" marT="22860" marB="22860"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99.98%</a:t>
                      </a:r>
                    </a:p>
                  </a:txBody>
                  <a:tcPr marL="45720" marR="45720" marT="22860" marB="22860"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  <a:noFill/>
                  </a:tcPr>
                </a:tc>
              </a:tr>
            </a:tbl>
          </a:graphicData>
        </a:graphic>
      </p:graphicFrame>
      <p:pic>
        <p:nvPicPr>
          <p:cNvPr id="300" name="Static shot"/>
          <p:cNvPicPr/>
          <p:nvPr/>
        </p:nvPicPr>
        <p:blipFill>
          <a:blip r:embed="rId3"/>
          <a:stretch>
            <a:fillRect/>
          </a:stretch>
        </p:blipFill>
        <p:spPr>
          <a:xfrm>
            <a:off x="5486400" y="2103120"/>
            <a:ext cx="2377440" cy="1463040"/>
          </a:xfrm>
          <a:prstGeom prst="rect">
            <a:avLst/>
          </a:prstGeom>
        </p:spPr>
      </p:pic>
      <p:graphicFrame>
        <p:nvGraphicFramePr>
          <p:cNvPr id="500" name="Static diagram"/>
          <p:cNvGraphicFramePr/>
          <p:nvPr/>
        </p:nvGraphicFramePr>
        <p:xfrm>
          <a:off x="685800" y="5120640"/>
          <a:ext cx="4206240" cy="10972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4" r:qs="rId4" r:cs="rId4"/>
          </a:graphicData>
        </a:graphic>
      </p:graphicFrame>
    </p:spTree>
  </p:cSld>
  <p:transition spd="slow">
    <p:fade/>
  </p:transition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85800" y="502920"/>
            <a:ext cx="10789920" cy="9144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indent="0" marL="0">
              <a:buNone/>
            </a:pPr>
            <a:r>
              <a:rPr lang="en-US" sz="3200" b="1" i="0" dirty="0">
                <a:solidFill>
                  <a:srgbClr val="1F1E1B"/>
                </a:solidFill>
                <a:latin typeface="Georgia"/>
              </a:rPr>
              <a:t>Billing Flow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685800" y="1737360"/>
            <a:ext cx="9144000" cy="18288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indent="0" marL="0">
              <a:buNone/>
            </a:pPr>
            <a:r>
              <a:rPr lang="en-US" sz="1800" b="0" i="0" dirty="0">
                <a:solidFill>
                  <a:srgbClr val="1F1E1B"/>
                </a:solidFill>
                <a:latin typeface="Arial"/>
              </a:rPr>
              <a:t>Invoice generation and payment retry logic.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85800" y="502920"/>
            <a:ext cx="10789920" cy="9144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indent="0" marL="0">
              <a:buNone/>
            </a:pPr>
            <a:r>
              <a:rPr lang="en-US" sz="3200" b="1" i="0" dirty="0">
                <a:solidFill>
                  <a:srgbClr val="1F1E1B"/>
                </a:solidFill>
                <a:latin typeface="Georgia"/>
              </a:rPr>
              <a:t>Onboarding Flow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685800" y="1737360"/>
            <a:ext cx="9144000" cy="18288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indent="0" marL="0">
              <a:buNone/>
            </a:pPr>
            <a:r>
              <a:rPr lang="en-US" sz="1800" b="0" i="0" dirty="0">
                <a:solidFill>
                  <a:srgbClr val="1F1E1B"/>
                </a:solidFill>
                <a:latin typeface="Arial"/>
              </a:rPr>
              <a:t>New-user activation steps and drop-off metrics.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413A"/>
      </a:dk2>
      <a:lt2>
        <a:srgbClr val="EAE4D6"/>
      </a:lt2>
      <a:accent1>
        <a:srgbClr val="C9684A"/>
      </a:accent1>
      <a:accent2>
        <a:srgbClr val="3E7C5A"/>
      </a:accent2>
      <a:accent3>
        <a:srgbClr val="2A6FDB"/>
      </a:accent3>
      <a:accent4>
        <a:srgbClr val="B23A2E"/>
      </a:accent4>
      <a:accent5>
        <a:srgbClr val="7A5BD6"/>
      </a:accent5>
      <a:accent6>
        <a:srgbClr val="9A9486"/>
      </a:accent6>
      <a:hlink>
        <a:srgbClr val="2A6FDB"/>
      </a:hlink>
      <a:folHlink>
        <a:srgbClr val="7A5BD6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