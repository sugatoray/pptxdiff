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p3" ContentType="audio/mpeg"/>
  <Default Extension="fntdata" ContentType="application/x-font-f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_1_0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1695" cy="6858000"/>
  <p:notesSz cx="6858000" cy="9144000"/>
  <p:embeddedFontLst>
    <p:embeddedFont>
      <p:font typeface="Brand Sans"/>
      <p:regular r:id="rIdFont0"/>
    </p:embeddedFont>
  </p:embeddedFont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Font0" Type="http://schemas.openxmlformats.org/officeDocument/2006/relationships/font" Target="fonts/font0.fntdata"/></Relationships>
</file>

<file path=ppt/charts/chart_1_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crossAx val="2"/>
      </c:catAx>
      <c:valAx>
        <c:axId val="2"/>
        <c:scaling>
          <c:orientation val="minMax"/>
        </c:scaling>
        <c:delete val="0"/>
        <c:axPos val="l"/>
        <c:crossAx val="1"/>
      </c:valAx>
    </c:plotArea>
  </c:chart>
</c:chartSpace>
</file>

<file path=ppt/diagrams/data_1_0.xml><?xml version="1.0" encoding="utf-8"?>
<a:root xmlns:a="http://schemas.openxmlformats.org/drawingml/2006/main">
  <a:t>Plan</a:t>
  <a:t>Build</a:t>
  <a:t>Launch</a:t>
</a:root>
</file>

<file path=ppt/diagrams/data_2_0.xml><?xml version="1.0" encoding="utf-8"?>
<a:root xmlns:a="http://schemas.openxmlformats.org/drawingml/2006/main">
  <a:t>Same</a:t>
  <a:t>Same</a:t>
  <a:t>Same</a:t>
</a:root>
</file>

<file path=ppt/notesSlides/_rels/notesSlide2.xml.rels><?xml version="1.0" encoding="UTF-8" standalone="yes"?>
<Relationships xmlns="http://schemas.openxmlformats.org/package/2006/relationships"></Relationships>
</file>

<file path=ppt/notesSlides/_rels/notesSlide3.xml.rels><?xml version="1.0" encoding="UTF-8" standalone="yes"?>
<Relationships xmlns="http://schemas.openxmlformats.org/package/2006/relationships"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/>
              <a:t>Walk through the roadmap slide slowly — leadership cares about Q4 dates.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/>
              <a:t>This slide should show zero differences — a control for the diff engine.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roadmap-2026-draft" TargetMode="External"/><Relationship Id="rId3" Type="http://schemas.openxmlformats.org/officeDocument/2006/relationships/image" Target="../media/img_1_0.png"/><Relationship Id="rId4" Type="http://schemas.openxmlformats.org/officeDocument/2006/relationships/chart" Target="../charts/chart_1_0.xml"/><Relationship Id="rId5" Type="http://schemas.openxmlformats.org/officeDocument/2006/relationships/diagramData" Target="../diagrams/data_1_0.xml"/><Relationship Id="rId6" Type="http://schemas.openxmlformats.org/officeDocument/2006/relationships/video" Target="../media/media_1_0.mp4"/><Relationship Id="rId7" Type="http://schemas.openxmlformats.org/officeDocument/2006/relationships/image" Target="../media/poster_1_0.png"/><Relationship Id="rId8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stable" TargetMode="External"/><Relationship Id="rId3" Type="http://schemas.openxmlformats.org/officeDocument/2006/relationships/image" Target="../media/img_2_0.png"/><Relationship Id="rId4" Type="http://schemas.openxmlformats.org/officeDocument/2006/relationships/diagramData" Target="../diagrams/data_2_0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502920"/>
            <a:ext cx="10789920" cy="109728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4000" b="1" i="0" dirty="0">
                <a:solidFill>
                  <a:srgbClr val="1F1E1B"/>
                </a:solidFill>
                <a:latin typeface="Georgia"/>
              </a:rPr>
              <a:t>Q3 Business Review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1645920"/>
            <a:ext cx="8229600" cy="50292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800" b="0" i="0" dirty="0">
                <a:solidFill>
                  <a:srgbClr val="6B655A"/>
                </a:solidFill>
                <a:latin typeface="Arial"/>
              </a:rPr>
              <a:t>Prepared by the Strategy Team</a:t>
            </a:r>
          </a:p>
        </p:txBody>
      </p:sp>
      <p:sp>
        <p:nvSpPr>
          <p:cNvPr id="4" name="Key points"/>
          <p:cNvSpPr>
            <a:spLocks noGrp="1"/>
          </p:cNvSpPr>
          <p:nvPr/>
        </p:nvSpPr>
        <p:spPr>
          <a:xfrm>
            <a:off x="914400" y="2743200"/>
            <a:ext cx="7498080" cy="2743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-274638" marL="274638">
              <a:buFont typeface="Arial"/>
              <a:buChar char="•"/>
            </a:pPr>
            <a:r>
              <a:rPr lang="en-US" sz="2200" b="0" i="0" dirty="0">
                <a:solidFill>
                  <a:srgbClr val="1F1E1B"/>
                </a:solidFill>
                <a:latin typeface="Arial"/>
              </a:rPr>
              <a:t>Revenue up 12% year over year</a:t>
            </a:r>
          </a:p>
          <a:p>
            <a:pPr indent="-274638" marL="274638">
              <a:buFont typeface="Arial"/>
              <a:buChar char="•"/>
            </a:pPr>
            <a:r>
              <a:rPr lang="en-US" sz="2200" b="0" i="0" dirty="0">
                <a:solidFill>
                  <a:srgbClr val="1F1E1B"/>
                </a:solidFill>
                <a:latin typeface="Arial"/>
              </a:rPr>
              <a:t>Churn down to 4.1%</a:t>
            </a:r>
          </a:p>
          <a:p>
            <a:pPr indent="-274638" marL="274638">
              <a:buFont typeface="Arial"/>
              <a:buChar char="•"/>
            </a:pPr>
            <a:r>
              <a:rPr lang="en-US" sz="2200" b="0" i="0" dirty="0">
                <a:solidFill>
                  <a:srgbClr val="1F1E1B"/>
                </a:solidFill>
                <a:latin typeface="Arial"/>
              </a:rPr>
              <a:t>Three new markets launched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0" y="4480560"/>
            <a:ext cx="4023360" cy="109728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400" b="0" i="1" dirty="0">
                <a:solidFill>
                  <a:srgbClr val="9A9486"/>
                </a:solidFill>
                <a:latin typeface="Arial"/>
              </a:rPr>
              <a:t>Draft — internal only</a:t>
            </a:r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685800" y="6263640"/>
            <a:ext cx="5486400" cy="36576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200" b="0" i="0" dirty="0">
                <a:solidFill>
                  <a:srgbClr val="9A9486"/>
                </a:solidFill>
                <a:latin typeface="Arial"/>
              </a:rPr>
              <a:t>Confidential — 2026</a:t>
            </a:r>
          </a:p>
        </p:txBody>
      </p:sp>
      <p:graphicFrame>
        <p:nvGraphicFramePr>
          <p:cNvPr id="100" name="Metrics table"/>
          <p:cNvGraphicFramePr/>
          <p:nvPr/>
        </p:nvGraphicFramePr>
        <p:xfrm>
          <a:off x="822960" y="4160520"/>
          <a:ext cx="5486400" cy="155448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828800"/>
                <a:gridCol w="1828800"/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Q2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Q3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dirty="0"/>
                        <a:t>Revenue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$4.1M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$4.6M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dirty="0"/>
                        <a:t>Churn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4.3%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4.1%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789920" cy="914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3200" b="1" i="0" dirty="0">
                <a:solidFill>
                  <a:srgbClr val="1F1E1B"/>
                </a:solidFill>
                <a:latin typeface="Georgia"/>
              </a:rPr>
              <a:t>Feature Showcase</a:t>
            </a:r>
          </a:p>
        </p:txBody>
      </p:sp>
      <p:sp>
        <p:nvSpPr>
          <p:cNvPr id="3" name="Details link"/>
          <p:cNvSpPr>
            <a:spLocks noGrp="1"/>
          </p:cNvSpPr>
          <p:nvPr/>
        </p:nvSpPr>
        <p:spPr>
          <a:xfrm>
            <a:off x="685800" y="1463040"/>
            <a:ext cx="5486400" cy="457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600" b="0" i="0" dirty="0">
                <a:solidFill>
                  <a:srgbClr val="2A6FDB"/>
                </a:solidFill>
                <a:latin typeface="Arial"/>
                <a:hlinkClick r:id="rId2"/>
              </a:rPr>
              <a:t>Full roadmap and details</a:t>
            </a:r>
          </a:p>
        </p:txBody>
      </p:sp>
      <p:sp>
        <p:nvSpPr>
          <p:cNvPr id="4" name="Wrapped note"/>
          <p:cNvSpPr>
            <a:spLocks noGrp="1"/>
          </p:cNvSpPr>
          <p:nvPr/>
        </p:nvSpPr>
        <p:spPr>
          <a:xfrm>
            <a:off x="6492240" y="1417320"/>
            <a:ext cx="2011680" cy="82296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300" b="0" i="0" dirty="0">
                <a:solidFill>
                  <a:srgbClr val="6B655A"/>
                </a:solidFill>
                <a:latin typeface="Arial"/>
              </a:rPr>
              <a:t>This note wraps across lines inside a narrow box.</a:t>
            </a:r>
          </a:p>
        </p:txBody>
      </p:sp>
      <p:sp>
        <p:nvSpPr>
          <p:cNvPr id="5" name="Bordered callout"/>
          <p:cNvSpPr>
            <a:spLocks noGrp="1"/>
          </p:cNvSpPr>
          <p:nvPr/>
        </p:nvSpPr>
        <p:spPr>
          <a:xfrm>
            <a:off x="685800" y="4892040"/>
            <a:ext cx="4206240" cy="1051560"/>
          </a:xfrm>
          <a:prstGeom prst="rect">
            <a:avLst/>
          </a:prstGeom>
          <a:ln w="12700">
            <a:solidFill>
              <a:srgbClr val="3E7C5A"/>
            </a:solidFill>
          </a:ln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600" b="1" i="0" dirty="0">
                <a:solidFill>
                  <a:srgbClr val="1F1E1B"/>
                </a:solidFill>
                <a:latin typeface="Arial"/>
              </a:rPr>
              <a:t>On track for GA</a:t>
            </a:r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685800" y="6309360"/>
            <a:ext cx="5486400" cy="36576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200" b="0" i="0" dirty="0">
                <a:solidFill>
                  <a:srgbClr val="9A9486"/>
                </a:solidFill>
                <a:latin typeface="Arial"/>
              </a:rPr>
              <a:t>Confidential — draft v1</a:t>
            </a:r>
          </a:p>
        </p:txBody>
      </p:sp>
      <p:graphicFrame>
        <p:nvGraphicFramePr>
          <p:cNvPr id="100" name="Formatting table"/>
          <p:cNvGraphicFramePr/>
          <p:nvPr/>
        </p:nvGraphicFramePr>
        <p:xfrm>
          <a:off x="685800" y="2423160"/>
          <a:ext cx="5669280" cy="2194560"/>
        </p:xfrm>
        <a:graphic>
          <a:graphicData uri="http://schemas.openxmlformats.org/drawingml/2006/table">
            <a:tbl>
              <a:tblPr firstRow="1" bandRow="1"/>
              <a:tblGrid>
                <a:gridCol w="1889760"/>
                <a:gridCol w="1889760"/>
                <a:gridCol w="1889760"/>
              </a:tblGrid>
              <a:tr h="731520">
                <a:tc>
                  <a:txBody>
                    <a:bodyPr/>
                    <a:lstStyle/>
                    <a:p>
                      <a:r>
                        <a:rPr lang="en-US" sz="1400" dirty="0"/>
                        <a:t>Region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Owner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Status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AE4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 dirty="0"/>
                        <a:t>AMER</a:t>
                      </a:r>
                    </a:p>
                  </a:txBody>
                  <a:tcPr marL="45720" marR="45720" marT="22860" marB="22860">
                    <a:lnL w="9525">
                      <a:solidFill>
                        <a:srgbClr val="CCCCCC"/>
                      </a:solidFill>
                    </a:lnL>
                    <a:lnR w="9525">
                      <a:solidFill>
                        <a:srgbClr val="CCCCCC"/>
                      </a:solidFill>
                    </a:lnR>
                    <a:lnT w="9525">
                      <a:solidFill>
                        <a:srgbClr val="CCCCCC"/>
                      </a:solidFill>
                    </a:lnT>
                    <a:lnB w="9525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A. Chen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Green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4F3E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 dirty="0"/>
                        <a:t>EMEA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R. Diaz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At risk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BEFEC"/>
                    </a:solidFill>
                  </a:tcPr>
                </a:tc>
              </a:tr>
            </a:tbl>
          </a:graphicData>
        </a:graphic>
      </p:graphicFrame>
      <p:pic>
        <p:nvPicPr>
          <p:cNvPr id="300" name="Product shot"/>
          <p:cNvPicPr/>
          <p:nvPr/>
        </p:nvPicPr>
        <p:blipFill>
          <a:blip r:embed="rId3"/>
          <a:stretch>
            <a:fillRect/>
          </a:stretch>
        </p:blipFill>
        <p:spPr>
          <a:xfrm>
            <a:off x="8503920" y="502920"/>
            <a:ext cx="2926080" cy="1737360"/>
          </a:xfrm>
          <a:prstGeom prst="rect">
            <a:avLst/>
          </a:prstGeom>
        </p:spPr>
      </p:pic>
      <p:graphicFrame>
        <p:nvGraphicFramePr>
          <p:cNvPr id="400" name="Adoption chart"/>
          <p:cNvGraphicFramePr/>
          <p:nvPr/>
        </p:nvGraphicFramePr>
        <p:xfrm>
          <a:off x="8503920" y="2423160"/>
          <a:ext cx="2926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00" name="Process diagram"/>
          <p:cNvGraphicFramePr/>
          <p:nvPr/>
        </p:nvGraphicFramePr>
        <p:xfrm>
          <a:off x="8503920" y="4754880"/>
          <a:ext cx="2926080" cy="1188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5" r:qs="rId5" r:cs="rId5"/>
          </a:graphicData>
        </a:graphic>
      </p:graphicFrame>
      <p:pic>
        <p:nvPicPr>
          <p:cNvPr id="200" name="Demo clip"/>
          <p:cNvPicPr/>
          <p:nvPr>
            <p:videoFile r:link="rId6"/>
          </p:nvPr>
        </p:nvPicPr>
        <p:blipFill>
          <a:blip r:embed="rId7"/>
          <a:stretch>
            <a:fillRect/>
          </a:stretch>
        </p:blipFill>
        <p:spPr>
          <a:xfrm>
            <a:off x="4206240" y="4892040"/>
            <a:ext cx="1828800" cy="1051560"/>
          </a:xfrm>
          <a:prstGeom prst="rect">
            <a:avLst/>
          </a:prstGeom>
        </p:spPr>
      </p:pic>
    </p:spTree>
  </p:cSld>
  <p:transition spd="med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789920" cy="914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3200" b="1" i="0" dirty="0">
                <a:solidFill>
                  <a:srgbClr val="1F1E1B"/>
                </a:solidFill>
                <a:latin typeface="Georgia"/>
              </a:rPr>
              <a:t>Stable Slide (control)</a:t>
            </a:r>
          </a:p>
        </p:txBody>
      </p:sp>
      <p:sp>
        <p:nvSpPr>
          <p:cNvPr id="3" name="Link"/>
          <p:cNvSpPr>
            <a:spLocks noGrp="1"/>
          </p:cNvSpPr>
          <p:nvPr/>
        </p:nvSpPr>
        <p:spPr>
          <a:xfrm>
            <a:off x="685800" y="1463040"/>
            <a:ext cx="5486400" cy="4572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600" b="0" i="0" dirty="0">
                <a:solidFill>
                  <a:srgbClr val="2A6FDB"/>
                </a:solidFill>
                <a:latin typeface="Arial"/>
                <a:hlinkClick r:id="rId2"/>
              </a:rPr>
              <a:t>Unchanged reference link</a:t>
            </a:r>
          </a:p>
        </p:txBody>
      </p:sp>
      <p:sp>
        <p:nvSpPr>
          <p:cNvPr id="4" name="Bordered box"/>
          <p:cNvSpPr>
            <a:spLocks noGrp="1"/>
          </p:cNvSpPr>
          <p:nvPr/>
        </p:nvSpPr>
        <p:spPr>
          <a:xfrm>
            <a:off x="685800" y="2103120"/>
            <a:ext cx="4206240" cy="1051560"/>
          </a:xfrm>
          <a:prstGeom prst="rect">
            <a:avLst/>
          </a:prstGeom>
          <a:ln w="19050">
            <a:solidFill>
              <a:srgbClr val="8A8273"/>
            </a:solidFill>
          </a:ln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600" b="1" i="0" dirty="0">
                <a:solidFill>
                  <a:srgbClr val="1F1E1B"/>
                </a:solidFill>
                <a:latin typeface="Arial"/>
              </a:rPr>
              <a:t>No changes here</a:t>
            </a:r>
          </a:p>
        </p:txBody>
      </p:sp>
      <p:graphicFrame>
        <p:nvGraphicFramePr>
          <p:cNvPr id="100" name="Control table"/>
          <p:cNvGraphicFramePr/>
          <p:nvPr/>
        </p:nvGraphicFramePr>
        <p:xfrm>
          <a:off x="685800" y="3657600"/>
          <a:ext cx="5669280" cy="1280160"/>
        </p:xfrm>
        <a:graphic>
          <a:graphicData uri="http://schemas.openxmlformats.org/drawingml/2006/table">
            <a:tbl>
              <a:tblPr firstRow="1" bandRow="1"/>
              <a:tblGrid>
                <a:gridCol w="2834640"/>
                <a:gridCol w="2834640"/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400" dirty="0"/>
                        <a:t>Item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AE4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400" dirty="0"/>
                        <a:t>Uptime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99.98%</a:t>
                      </a:r>
                    </a:p>
                  </a:txBody>
                  <a:tcPr marL="45720" marR="45720" marT="22860" marB="22860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0" name="Static shot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0" y="2103120"/>
            <a:ext cx="2377440" cy="1463040"/>
          </a:xfrm>
          <a:prstGeom prst="rect">
            <a:avLst/>
          </a:prstGeom>
        </p:spPr>
      </p:pic>
      <p:graphicFrame>
        <p:nvGraphicFramePr>
          <p:cNvPr id="500" name="Static diagram"/>
          <p:cNvGraphicFramePr/>
          <p:nvPr/>
        </p:nvGraphicFramePr>
        <p:xfrm>
          <a:off x="685800" y="5120640"/>
          <a:ext cx="4206240" cy="1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4" r:qs="rId4" r:cs="rId4"/>
          </a:graphicData>
        </a:graphic>
      </p:graphicFrame>
    </p:spTree>
  </p:cSld>
  <p:transition spd="slow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502920"/>
            <a:ext cx="10789920" cy="914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3200" b="1" i="0" dirty="0">
                <a:solidFill>
                  <a:srgbClr val="1F1E1B"/>
                </a:solidFill>
                <a:latin typeface="Georgia"/>
              </a:rPr>
              <a:t>Deprecated Process (remove in v2)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37360"/>
            <a:ext cx="9144000" cy="1828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800" b="0" i="0" dirty="0">
                <a:solidFill>
                  <a:srgbClr val="1F1E1B"/>
                </a:solidFill>
                <a:latin typeface="Arial"/>
              </a:rPr>
              <a:t>This workflow was retired ahead of the v2 review.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502920"/>
            <a:ext cx="10789920" cy="914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3200" b="1" i="0" dirty="0">
                <a:solidFill>
                  <a:srgbClr val="1F1E1B"/>
                </a:solidFill>
                <a:latin typeface="Georgia"/>
              </a:rPr>
              <a:t>Onboarding Flow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37360"/>
            <a:ext cx="9144000" cy="1828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800" b="0" i="0" dirty="0">
                <a:solidFill>
                  <a:srgbClr val="1F1E1B"/>
                </a:solidFill>
                <a:latin typeface="Arial"/>
              </a:rPr>
              <a:t>New-user activation steps and drop-off metrics.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502920"/>
            <a:ext cx="10789920" cy="914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3200" b="1" i="0" dirty="0">
                <a:solidFill>
                  <a:srgbClr val="1F1E1B"/>
                </a:solidFill>
                <a:latin typeface="Georgia"/>
              </a:rPr>
              <a:t>Billing Flow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37360"/>
            <a:ext cx="9144000" cy="1828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indent="0" marL="0">
              <a:buNone/>
            </a:pPr>
            <a:r>
              <a:rPr lang="en-US" sz="1800" b="0" i="0" dirty="0">
                <a:solidFill>
                  <a:srgbClr val="1F1E1B"/>
                </a:solidFill>
                <a:latin typeface="Arial"/>
              </a:rPr>
              <a:t>Invoice generation and payment retry logic.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413A"/>
      </a:dk2>
      <a:lt2>
        <a:srgbClr val="EAE4D6"/>
      </a:lt2>
      <a:accent1>
        <a:srgbClr val="C9684A"/>
      </a:accent1>
      <a:accent2>
        <a:srgbClr val="3E7C5A"/>
      </a:accent2>
      <a:accent3>
        <a:srgbClr val="2A6FDB"/>
      </a:accent3>
      <a:accent4>
        <a:srgbClr val="B23A2E"/>
      </a:accent4>
      <a:accent5>
        <a:srgbClr val="7A5BD6"/>
      </a:accent5>
      <a:accent6>
        <a:srgbClr val="9A9486"/>
      </a:accent6>
      <a:hlink>
        <a:srgbClr val="2A6FDB"/>
      </a:hlink>
      <a:folHlink>
        <a:srgbClr val="7A5BD6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